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Inter" panose="020B0604020202020204" charset="0"/>
      <p:regular r:id="rId19"/>
    </p:embeddedFont>
    <p:embeddedFont>
      <p:font typeface="Inter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44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jp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7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11" Type="http://schemas.openxmlformats.org/officeDocument/2006/relationships/image" Target="../media/image2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613819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Greenhouse Monitoring &amp; Automation System</a:t>
            </a:r>
            <a:endParaRPr lang="en-US" sz="5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856C3-178F-0158-25F6-3D54E6431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363" y="6362631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3991"/>
            <a:ext cx="10868745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End-to-End IoT Prototype for Real-Time Environmental Monitoring and Automated Irrigation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6396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Developed by: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Mahdi Javahery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549848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1475" y="4187726"/>
            <a:ext cx="2575357" cy="981273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4383088"/>
            <a:ext cx="2184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Embedded Systems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3425839" y="4187726"/>
            <a:ext cx="2575456" cy="981273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1195" y="4383088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IoT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190301" y="4187726"/>
            <a:ext cx="2575456" cy="981273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4383088"/>
            <a:ext cx="21847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Development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954764" y="4187726"/>
            <a:ext cx="2575456" cy="981273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50121" y="4383088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Monitoring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61475" y="5358011"/>
            <a:ext cx="10868745" cy="685998"/>
          </a:xfrm>
          <a:prstGeom prst="roundRect">
            <a:avLst>
              <a:gd name="adj" fmla="val 115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832" y="5553373"/>
            <a:ext cx="104780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Automation</a:t>
            </a:r>
            <a:endParaRPr lang="en-US" sz="1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34DDC2-23B2-7075-E94D-8BEF0746A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173" y="6362631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6"/>
            <a:ext cx="10868745" cy="1010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Components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751681"/>
            <a:ext cx="11478330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endParaRPr lang="en-US" sz="4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235" y="2060817"/>
            <a:ext cx="3624256" cy="2717434"/>
          </a:xfrm>
          <a:prstGeom prst="rect">
            <a:avLst/>
          </a:prstGeom>
        </p:spPr>
      </p:pic>
      <p:pic>
        <p:nvPicPr>
          <p:cNvPr id="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91674" y="2067127"/>
            <a:ext cx="6127629" cy="27237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6352977"/>
            <a:ext cx="11478330" cy="65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endParaRPr lang="en-US" sz="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21818A-52DB-A3BC-9FD0-B2ACF7CA3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363" y="6352977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77168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Introduction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61475" y="1279624"/>
            <a:ext cx="629686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focuses on designing and developing an IoT-based greenhouse monitoring and automation prototype that integrates embedded hardware, backend services, database management, and a web monitoring dashboard.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2034381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Capabilities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61475" y="2459534"/>
            <a:ext cx="567021" cy="850602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675" y="2778522"/>
            <a:ext cx="212620" cy="212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4756" y="2601218"/>
            <a:ext cx="5623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Environmental Monitoring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61475" y="3416399"/>
            <a:ext cx="567021" cy="850602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675" y="3735388"/>
            <a:ext cx="212620" cy="212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4756" y="3558084"/>
            <a:ext cx="5623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Irrigation Control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61475" y="4373265"/>
            <a:ext cx="567021" cy="850602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675" y="4692253"/>
            <a:ext cx="212620" cy="2126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34756" y="4514949"/>
            <a:ext cx="5623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Historical Data Storage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61475" y="5330130"/>
            <a:ext cx="567021" cy="850602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675" y="5649119"/>
            <a:ext cx="212620" cy="2126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34756" y="5471815"/>
            <a:ext cx="5623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Remote System Observation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4852"/>
            <a:ext cx="6296860" cy="325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Smart Greenhouse?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233360" y="976015"/>
            <a:ext cx="6296860" cy="258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greenhouse management often leads to inefficiencies and suboptimal plant growth due to several inherent challenges: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5233360" y="1353939"/>
            <a:ext cx="51989" cy="51991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5342598" y="1298674"/>
            <a:ext cx="6187623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Environmental Monitoring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42598" y="1495723"/>
            <a:ext cx="6187623" cy="258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Reliance on manual checks makes it difficult to maintain consistent optimal conditions, leading to fluctuations in temperature, humidity, and soil moisture.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233360" y="1923752"/>
            <a:ext cx="51989" cy="51991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9" name="Text 6"/>
          <p:cNvSpPr/>
          <p:nvPr/>
        </p:nvSpPr>
        <p:spPr>
          <a:xfrm>
            <a:off x="5342598" y="1868488"/>
            <a:ext cx="6187623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Inefficient Resource Usage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42598" y="2065536"/>
            <a:ext cx="6187623" cy="12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precise control, water and nutrients are often over-applied, leading to waste and increased operational costs.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233360" y="2364482"/>
            <a:ext cx="51989" cy="51991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5342598" y="2309217"/>
            <a:ext cx="6187623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Lack of Continuous Data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42598" y="2506266"/>
            <a:ext cx="6187623" cy="12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Intermittent data collection prevents a comprehensive understanding of long-term trends and immediate critical changes.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233360" y="2805212"/>
            <a:ext cx="51989" cy="51991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5342598" y="2749947"/>
            <a:ext cx="6187623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Limited Decision-Making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42598" y="2946995"/>
            <a:ext cx="6187623" cy="12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 of historical analysis restricts the ability to learn from past cycles and optimize future growing strategies.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33360" y="3162002"/>
            <a:ext cx="6296860" cy="195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33360" y="3443089"/>
            <a:ext cx="6906444" cy="12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IoT system addresses these challenges by implementing a seamless, automated workflow:</a:t>
            </a:r>
            <a:endParaRPr lang="en-US" sz="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3636665"/>
            <a:ext cx="4722595" cy="26564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D496C1-A3F2-FF82-D99C-4E8C99084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1167" y="6357640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System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smart greenhouse system is built on a robust, layered architecture, ensuring seamless data flow from environmental sensing to real-time web monitoring and automated control.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1550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design separates hardware, data processing, and visualization components, allowing for modular development and easier maintenance.</a:t>
            </a:r>
            <a:endParaRPr lang="en-US" sz="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6BC24A-53F0-492C-267F-4499E26BE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168" y="6284865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58335" y="1725178"/>
            <a:ext cx="4964538" cy="37223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4591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Embedded Hardware Implementation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61475" y="1580059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foundational hardware layer was meticulously developed as a functional IoT prototype, initially leveraging a breadboard-based architecture for flexibility and rapid iteration.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1475" y="2096492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605" y="2149624"/>
            <a:ext cx="212620" cy="2126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6617" y="2145209"/>
            <a:ext cx="5871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ESP8266 Microcontroller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086617" y="2430363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brain of the system, handling data processing and communication.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61475" y="2841427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605" y="2894558"/>
            <a:ext cx="212620" cy="212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6617" y="2890143"/>
            <a:ext cx="5871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Soil Moisture Sensor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86617" y="3175298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monitors the water content in the soil.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61475" y="3586361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605" y="3639493"/>
            <a:ext cx="212620" cy="2126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86617" y="3635077"/>
            <a:ext cx="5871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 Sensor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086617" y="3920232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ambient greenhouse temperature for optimal plant growth.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61475" y="4331295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605" y="4384427"/>
            <a:ext cx="212620" cy="2126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86617" y="4380012"/>
            <a:ext cx="5871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Relay Module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086617" y="4665166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the power supply to the water pump based on sensor data.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61475" y="5076230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605" y="5129361"/>
            <a:ext cx="212620" cy="21262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86617" y="5124946"/>
            <a:ext cx="5871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 Pump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1086617" y="5410101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water to plants for automated irrigation.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661475" y="5728097"/>
            <a:ext cx="629686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breadboard setup facilitated thorough prototype validation, ensuring each component functioned as intended before transitioning to a more compact Printed Circuit Board (PCB) design.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45623EF-B1B1-AE17-F795-27E8BECEF0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363" y="6347456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21472" y="467268"/>
            <a:ext cx="6423948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 Controller Operation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421472" y="1069724"/>
            <a:ext cx="642394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ESP8266 serves as the core edge controller, performing critical real-time operations to maintain optimal greenhouse conditions. Its responsibilities span data acquisition, local processing, and dynamic system control.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421472" y="1784595"/>
            <a:ext cx="289182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421471" y="1979779"/>
            <a:ext cx="3157721" cy="457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2421471" y="2115390"/>
            <a:ext cx="315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Reading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421471" y="2400545"/>
            <a:ext cx="3157721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ESP8266 continuously polls connected sensors to gather raw environmental data, including soil moisture, temperature, and humidity levels.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22983" y="1784595"/>
            <a:ext cx="289182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2983" y="1979779"/>
            <a:ext cx="3157822" cy="457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5622983" y="2115390"/>
            <a:ext cx="31578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22983" y="2400545"/>
            <a:ext cx="3157822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sensor data is locally processed and filtered to ensure accuracy and reduce noise before further transmission or decision-making.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421472" y="3406822"/>
            <a:ext cx="289182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21471" y="3602006"/>
            <a:ext cx="3157721" cy="457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2421471" y="3737617"/>
            <a:ext cx="3157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Send Data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421471" y="4022772"/>
            <a:ext cx="3157721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Processed measurements are securely transmitted to the central server and database, enabling real-time monitoring and historical logging.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22983" y="3406822"/>
            <a:ext cx="289182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22983" y="3602006"/>
            <a:ext cx="3157822" cy="457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5622983" y="3737617"/>
            <a:ext cx="31578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Pump Decision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622983" y="4022772"/>
            <a:ext cx="3157822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pre-defined thresholds and current soil moisture data, the ESP8266 autonomously determines if irrigation is required.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421472" y="5029048"/>
            <a:ext cx="289182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21472" y="5224232"/>
            <a:ext cx="6423948" cy="45719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0"/>
          <p:cNvSpPr/>
          <p:nvPr/>
        </p:nvSpPr>
        <p:spPr>
          <a:xfrm>
            <a:off x="2421472" y="5359843"/>
            <a:ext cx="64239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Relay Control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2421472" y="5644998"/>
            <a:ext cx="642394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irrigation is needed, the controller activates the relay module to switch on the water pump, ensuring precise and timely watering.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39C7262-B4B2-88B2-D950-33C325F9B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363" y="6287425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78259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Server-Side Data Management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1230610"/>
            <a:ext cx="629686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backend was developed using PHP to provide robust communication and data management between embedded devices and the monitoring platform, serving as the central hub for all IoT operations.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1909465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Responsibilities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61475" y="2296418"/>
            <a:ext cx="2037208" cy="1466056"/>
          </a:xfrm>
          <a:prstGeom prst="roundRect">
            <a:avLst>
              <a:gd name="adj" fmla="val 379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080" y="2435027"/>
            <a:ext cx="1759997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Receiving Sensor Data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080" y="2903934"/>
            <a:ext cx="1759997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Securely ingests raw environmental data transmitted from the ESP8266 controller.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91251" y="2296418"/>
            <a:ext cx="2037208" cy="1466056"/>
          </a:xfrm>
          <a:prstGeom prst="roundRect">
            <a:avLst>
              <a:gd name="adj" fmla="val 379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9856" y="2435027"/>
            <a:ext cx="1759997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Processing Measurements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929856" y="2903934"/>
            <a:ext cx="175999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Performs initial validation, aggregation, and formatting of incoming sensor data.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21028" y="2296418"/>
            <a:ext cx="2037208" cy="1466056"/>
          </a:xfrm>
          <a:prstGeom prst="roundRect">
            <a:avLst>
              <a:gd name="adj" fmla="val 379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59633" y="2435027"/>
            <a:ext cx="1759997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Managing Database Operations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59633" y="2903934"/>
            <a:ext cx="1759997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storing historical and real-time data efficiently in the MySQL database.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1475" y="3855045"/>
            <a:ext cx="6296760" cy="719435"/>
          </a:xfrm>
          <a:prstGeom prst="roundRect">
            <a:avLst>
              <a:gd name="adj" fmla="val 77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080" y="3993654"/>
            <a:ext cx="601955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Providing Data for Visualization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0080" y="4255889"/>
            <a:ext cx="601955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 processed data to the web dashboard for real-time monitoring and analysis.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1475" y="4713387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Technologies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661475" y="5100340"/>
            <a:ext cx="3102096" cy="1079401"/>
          </a:xfrm>
          <a:prstGeom prst="roundRect">
            <a:avLst>
              <a:gd name="adj" fmla="val 514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0080" y="5238948"/>
            <a:ext cx="282488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0080" y="5501184"/>
            <a:ext cx="282488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Chosen for its reliability and wide adoption in web development, enabling efficient server-side scripting.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856139" y="5100340"/>
            <a:ext cx="3102195" cy="1079401"/>
          </a:xfrm>
          <a:prstGeom prst="roundRect">
            <a:avLst>
              <a:gd name="adj" fmla="val 514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94745" y="5238948"/>
            <a:ext cx="282498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994745" y="5501184"/>
            <a:ext cx="2824985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powerful relational database management system for storing and retrieving large volumes of sensor data.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Storage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robust data storage architecture ensures reliable collection, processing, and availability of all greenhouse-related data, supporting both real-time insights and long-term analysis.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1550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MySQL database is specifically designed to manage the high volume of incoming sensor data and operational logs, ensuring data integrity and efficient retrieval. It comprehensively stores: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61475" y="6781998"/>
            <a:ext cx="10868745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Measurements:</a:t>
            </a: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Detailed readings from temperature, humidity, and soil moisture sensors.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Timestamps:</a:t>
            </a: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Precise time records for every data point, crucial for chronological analysis.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Device Status:</a:t>
            </a: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Operational logs and status updates from the ESP8266 controller.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Historical Environmental Data:</a:t>
            </a: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complete archive for trend analysis, predictive modeling, and identifying long-term growth patterns.</a:t>
            </a:r>
            <a:endParaRPr lang="en-US" sz="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C316DC-1238-5F73-5AC2-B647092DA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168" y="6314742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325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Monitoring Interface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368623"/>
            <a:ext cx="10868745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custom web dashboard was developed to visualize greenhouse conditions, providing users with instant insights and control over their environment.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2163862"/>
            <a:ext cx="10868745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Features: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43200"/>
            <a:ext cx="441810" cy="4418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9853" y="2743200"/>
            <a:ext cx="2836792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Sensor Monitoring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09853" y="3394571"/>
            <a:ext cx="2836792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view live readings from all environmental sensors, including air temperature, humidity, and soil moisture.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743200"/>
            <a:ext cx="441810" cy="4418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01591" y="2743200"/>
            <a:ext cx="2836792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 Visualization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001591" y="3394571"/>
            <a:ext cx="2836792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current and historical temperature trends through interactive graphs and custom alerts.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4951" y="2743200"/>
            <a:ext cx="441810" cy="4418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93329" y="2743200"/>
            <a:ext cx="283689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Soil Moisture Tracking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693329" y="3118445"/>
            <a:ext cx="283689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soil humidity levels over time to optimize irrigation schedules and prevent over/under-watering.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819749"/>
            <a:ext cx="441810" cy="4418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09853" y="4819749"/>
            <a:ext cx="2836792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Pump Status Monitoring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309853" y="5194995"/>
            <a:ext cx="2836792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operational status of the automated irrigation pump and manually trigger watering cycles if needed.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3213" y="4819749"/>
            <a:ext cx="441810" cy="44182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01591" y="4819749"/>
            <a:ext cx="2836792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Historical Data Analysis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5001591" y="5194995"/>
            <a:ext cx="2836792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comprehensive archives of past sensor data to identify patterns, evaluate plant health, and refine growing strategies.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9E43020-D8A3-0E00-9AB0-764014B795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363" y="6362631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01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&amp; Deployment Workflow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1425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was managed using modern development practices, ensuring a streamlined and collaborative process from coding to deployment.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2072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Utilized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605014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Git: For distributed version control and collaborative development.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GitHub: Our central repository for code hosting and team collaboration.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Docker: To create reproducible environments across development and production.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12072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Benefits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605014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deployment: Consistent environments minimize setup issues.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Reproducible environment: Ensures consistent behavior across different systems.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project maintenance: Version control and containerization simplify updates and debugging.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EE1440-1B59-1AD1-F06C-E3753C8D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820" y="6362631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9260"/>
            <a:ext cx="6296860" cy="543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Solutions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233360" y="1372890"/>
            <a:ext cx="6296860" cy="80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an end-to-end IoT system presented unique challenges, each met with thoughtful design and implementation strategies to ensure project success.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33360" y="2354560"/>
            <a:ext cx="6296860" cy="2932410"/>
          </a:xfrm>
          <a:prstGeom prst="roundRect">
            <a:avLst>
              <a:gd name="adj" fmla="val 249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3360" y="2836069"/>
            <a:ext cx="6296860" cy="108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233360" y="3581598"/>
            <a:ext cx="6296860" cy="108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233360" y="4059932"/>
            <a:ext cx="6296860" cy="108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233360" y="4805462"/>
            <a:ext cx="6296860" cy="1087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354560"/>
            <a:ext cx="10872" cy="293241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413636" y="2463304"/>
            <a:ext cx="3400638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558891" y="2463304"/>
            <a:ext cx="3400638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13636" y="2941638"/>
            <a:ext cx="3400638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integration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558891" y="2941638"/>
            <a:ext cx="2791053" cy="534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sensor and actuator design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13636" y="3687167"/>
            <a:ext cx="3400638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communication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558891" y="3687167"/>
            <a:ext cx="3400638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continuous data flow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13636" y="4165501"/>
            <a:ext cx="3400638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Hardware-software connection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558891" y="4165501"/>
            <a:ext cx="2791053" cy="534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ESP8266 with backend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413636" y="4911030"/>
            <a:ext cx="3400638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visualization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558891" y="4911030"/>
            <a:ext cx="3400638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monitoring dashboard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233360" y="5467052"/>
            <a:ext cx="6296860" cy="80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solutions were instrumental in transforming complex technical hurdles into reliable, functional components of the smart greenhouse system.</a:t>
            </a:r>
            <a:endParaRPr lang="en-US" sz="13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0C4A7D0-3FFF-536E-362D-489CB3FA8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891" y="6369809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315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Achievements &amp; Successes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5878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prototype system successfully delivered on its core objectives, demonstrating a robust and functional IoT solution for smart greenhouse management.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76784"/>
            <a:ext cx="10868745" cy="8506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550" y="1895773"/>
            <a:ext cx="212620" cy="2126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53806" y="1737519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IoT Workflow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353806" y="2022673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implemented a seamless flow from sensor data acquisition to server processing and automated control, ensuring reliable system operation.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33650"/>
            <a:ext cx="10868745" cy="85060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550" y="2852638"/>
            <a:ext cx="212620" cy="2126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53806" y="2694384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Monitoring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1353806" y="2979539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 continuous, live tracking of critical environmental parameters within the greenhouse, providing up-to-the-minute insights.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90516"/>
            <a:ext cx="10868745" cy="850602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550" y="3809504"/>
            <a:ext cx="212620" cy="21262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353806" y="3651250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Irrigation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1353806" y="3936405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integrated an intelligent irrigation system that automatically waters plants based on predefined moisture thresholds.</a:t>
            </a:r>
            <a:endParaRPr lang="en-US" sz="11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47381"/>
            <a:ext cx="10868745" cy="850602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550" y="4766370"/>
            <a:ext cx="212620" cy="212626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353806" y="4608116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Web-Based Visualization</a:t>
            </a:r>
            <a:endParaRPr lang="en-US" sz="1350" dirty="0"/>
          </a:p>
        </p:txBody>
      </p:sp>
      <p:sp>
        <p:nvSpPr>
          <p:cNvPr id="19" name="Text 9"/>
          <p:cNvSpPr/>
          <p:nvPr/>
        </p:nvSpPr>
        <p:spPr>
          <a:xfrm>
            <a:off x="1353806" y="4893270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an intuitive web dashboard for clear data visualization and remote control, enhancing user interaction and management.</a:t>
            </a:r>
            <a:endParaRPr lang="en-US" sz="11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04247"/>
            <a:ext cx="10868745" cy="850602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550" y="5723235"/>
            <a:ext cx="212620" cy="212626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353806" y="5564981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Integrated Hardware &amp; Software</a:t>
            </a:r>
            <a:endParaRPr lang="en-US" sz="1350" dirty="0"/>
          </a:p>
        </p:txBody>
      </p:sp>
      <p:sp>
        <p:nvSpPr>
          <p:cNvPr id="23" name="Text 11"/>
          <p:cNvSpPr/>
          <p:nvPr/>
        </p:nvSpPr>
        <p:spPr>
          <a:xfrm>
            <a:off x="1353806" y="5850136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robust integration between custom hardware (ESP8266, sensors) and backend software, demonstrating a cohesive system.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E55B872-2B94-42E2-0E67-3B3DE97D0D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363" y="6367296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91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Steps: Future Improvements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7778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further enhance the Smart Greenhouse system, we've identified key areas for future development across hardware, software, and intelligence.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95252"/>
            <a:ext cx="3496877" cy="365363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8183" y="2659162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5881" y="327669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Hardware Evolution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3685381"/>
            <a:ext cx="3068065" cy="188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PCB design for miniaturization and cost reduction.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IoT controller board for enhanced processing power and reliability.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495252"/>
            <a:ext cx="3496877" cy="3653631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4067" y="2659162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61766" y="327669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Expansion</a:t>
            </a:r>
            <a:endParaRPr lang="en-US" sz="1850" dirty="0"/>
          </a:p>
        </p:txBody>
      </p:sp>
      <p:sp>
        <p:nvSpPr>
          <p:cNvPr id="11" name="Text 5"/>
          <p:cNvSpPr/>
          <p:nvPr/>
        </p:nvSpPr>
        <p:spPr>
          <a:xfrm>
            <a:off x="4561766" y="3685381"/>
            <a:ext cx="3068065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development to support broader integrations.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 communication for real-time, lightweight messaging.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application for remote monitoring and control on the go.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495252"/>
            <a:ext cx="3496877" cy="3653631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9952" y="2659162"/>
            <a:ext cx="283461" cy="2834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47650" y="3276699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Intelligence &amp; Automation</a:t>
            </a:r>
            <a:endParaRPr lang="en-US" sz="1850" dirty="0"/>
          </a:p>
        </p:txBody>
      </p:sp>
      <p:sp>
        <p:nvSpPr>
          <p:cNvPr id="15" name="Text 7"/>
          <p:cNvSpPr/>
          <p:nvPr/>
        </p:nvSpPr>
        <p:spPr>
          <a:xfrm>
            <a:off x="8247650" y="3685381"/>
            <a:ext cx="3068065" cy="2183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AI-based irrigation prediction using historical data and weather forecasts.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cloud-based monitoring with anomaly detection and predictive analytics.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9CDEE7-B424-5A8E-C342-D7A00456C4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363" y="6312793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38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0248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successfully demonstrates the complete development cycle of an end-to-end IoT solution for smart agriculture.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42096"/>
            <a:ext cx="3248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Hardware Integration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050778"/>
            <a:ext cx="32488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sensors and embedded controllers form the foundation of data acquisition.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72" y="2419945"/>
            <a:ext cx="3804051" cy="380414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8812" y="3091160"/>
            <a:ext cx="282766" cy="2827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81284" y="2793305"/>
            <a:ext cx="3248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Services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8281284" y="3201988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server-side processing and secure data management.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72" y="2419945"/>
            <a:ext cx="3804051" cy="3804146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3661" y="3414911"/>
            <a:ext cx="282766" cy="2827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81284" y="4837113"/>
            <a:ext cx="3248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Visualization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281284" y="5245795"/>
            <a:ext cx="3248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interfaces for real-time monitoring and control.</a:t>
            </a:r>
            <a:endParaRPr lang="en-US" sz="1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2419945"/>
            <a:ext cx="3804051" cy="380414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9918" y="5269805"/>
            <a:ext cx="282766" cy="28277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61475" y="4685903"/>
            <a:ext cx="3248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Foundation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661475" y="5094585"/>
            <a:ext cx="32488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prototype ready for future expansion into advanced smart agriculture systems.</a:t>
            </a:r>
            <a:endParaRPr lang="en-US" sz="14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3772" y="2419945"/>
            <a:ext cx="3804051" cy="3804146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5070" y="4946055"/>
            <a:ext cx="282766" cy="2827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E16E9F0-D453-FF31-14D7-18D9B8C15C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1284" y="6362631"/>
            <a:ext cx="3848637" cy="495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1395</Words>
  <Application>Microsoft Office PowerPoint</Application>
  <PresentationFormat>Widescreen</PresentationFormat>
  <Paragraphs>171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Inter</vt:lpstr>
      <vt:lpstr>Inter Light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orb</dc:creator>
  <cp:lastModifiedBy>orb</cp:lastModifiedBy>
  <cp:revision>3</cp:revision>
  <dcterms:created xsi:type="dcterms:W3CDTF">2026-07-08T15:07:38Z</dcterms:created>
  <dcterms:modified xsi:type="dcterms:W3CDTF">2026-07-08T15:17:43Z</dcterms:modified>
</cp:coreProperties>
</file>